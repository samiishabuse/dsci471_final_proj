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05E6094-8373-459B-91EE-32D6F5FF000E}">
  <a:tblStyle styleId="{B05E6094-8373-459B-91EE-32D6F5FF000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5.xml"/><Relationship Id="rId22" Type="http://schemas.openxmlformats.org/officeDocument/2006/relationships/font" Target="fonts/Lato-bold.fntdata"/><Relationship Id="rId10" Type="http://schemas.openxmlformats.org/officeDocument/2006/relationships/slide" Target="slides/slide4.xml"/><Relationship Id="rId21" Type="http://schemas.openxmlformats.org/officeDocument/2006/relationships/font" Target="fonts/Lato-regular.fntdata"/><Relationship Id="rId13" Type="http://schemas.openxmlformats.org/officeDocument/2006/relationships/slide" Target="slides/slide7.xml"/><Relationship Id="rId24" Type="http://schemas.openxmlformats.org/officeDocument/2006/relationships/font" Target="fonts/Lato-boldItalic.fntdata"/><Relationship Id="rId12" Type="http://schemas.openxmlformats.org/officeDocument/2006/relationships/slide" Target="slides/slide6.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aleway-italic.fntdata"/><Relationship Id="rId6" Type="http://schemas.openxmlformats.org/officeDocument/2006/relationships/notesMaster" Target="notesMasters/notesMaster1.xml"/><Relationship Id="rId18" Type="http://schemas.openxmlformats.org/officeDocument/2006/relationships/font" Target="fonts/Ralew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Richy - Hi everyone, our project is a multimodal deep learning search engine for e-commerce fashion. I'm Richardson, this is Samii, and we built a system that lets shoppers search for clothing using natural language and compared it against a traditional keyword baseline.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74fd5e095_0_2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74fd5e095_0_2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Richy - A lot of e-commerce sites, especially smaller ones, anything running on Shopify's default search, still use TF-IDF or BM25-style keyword matching. Big players like Amazon have moved to neural and hybrid semantic search, but the trade-offs for smaller catalogs aren't well documented.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our research question is: when does a multimodal dual-encoder actually outperform keyword search? It's not obvious that a deep learning model is better in every case, and we wanted to find out empirically. We tested both approaches on the same dataset with the same metrics to get a clean comparison.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74fd5e095_0_2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74fd5e095_0_2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74fd5e095_0_2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74fd5e095_0_2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74fd5e095_0_2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74fd5e095_0_2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74fd5e095_0_2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74fd5e095_0_2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74fd5e095_0_2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74fd5e095_0_2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Richy - We didn't just build one model, we iterated through five versions. v1 used a from-scratch text encoder and hit a vocabulary ceiling almost immediately. v2 and v3 tried different caption augmentation strategies which actually hurt performance because of false-negative batches.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v4 was the biggest single jump, we replaced the trainable text encoder with frozen pretrained MiniLM and accuracy nearly doubled. v5 added caption rotation, which traded some peak templated accuracy for better balance across query styles.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big lesson is that training a text encoder from scratch on 35,000 image-text pairs simply can't compete with leveraging a model pretrained on over a billion sentence pairs. Transfer learning mattered more than any architecture choice we made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74fd5e095_0_2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74fd5e095_0_2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Richy - This chart shows the v4 vs v5 trade-off across all four query styles. v4 in blue wins on templated and brand queries, those are closer to our training distribution. But v5 in orange does noticeably better on the short and shopper queries, which are the natural language cases we actually care about for production 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our final model we went with v4 because of its higher peak Top-1 accuracy, but v5 is the more robust choice if your users are typing the way actual shoppers do.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74fd5e095_0_2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74fd5e095_0_2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74fd5e095_0_2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74fd5e095_0_2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311708" y="1201775"/>
            <a:ext cx="8520600" cy="2052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Multimodal Deep Learning Search Engine for E-commerce Fashion</a:t>
            </a:r>
            <a:endParaRPr/>
          </a:p>
        </p:txBody>
      </p:sp>
      <p:sp>
        <p:nvSpPr>
          <p:cNvPr id="87" name="Google Shape;87;p13"/>
          <p:cNvSpPr txBox="1"/>
          <p:nvPr>
            <p:ph idx="1" type="subTitle"/>
          </p:nvPr>
        </p:nvSpPr>
        <p:spPr>
          <a:xfrm>
            <a:off x="311700" y="329132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Richardson Chhin, Samii Shabuse</a:t>
            </a:r>
            <a:endParaRPr>
              <a:solidFill>
                <a:schemeClr val="dk1"/>
              </a:solidFill>
            </a:endParaRPr>
          </a:p>
          <a:p>
            <a:pPr indent="0" lvl="0" marL="0" rtl="0" algn="l">
              <a:spcBef>
                <a:spcPts val="0"/>
              </a:spcBef>
              <a:spcAft>
                <a:spcPts val="0"/>
              </a:spcAft>
              <a:buNone/>
            </a:pPr>
            <a:r>
              <a:rPr lang="en">
                <a:solidFill>
                  <a:schemeClr val="dk1"/>
                </a:solidFill>
              </a:rPr>
              <a:t>DSCI-471-002</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Definition</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Many e-commerce sites still rely on TF-IDF / BM25-style keyword search (especially smaller retailers — Shopify defaults)</a:t>
            </a:r>
            <a:endParaRPr>
              <a:solidFill>
                <a:schemeClr val="dk1"/>
              </a:solidFill>
            </a:endParaRPr>
          </a:p>
          <a:p>
            <a:pPr indent="0" lvl="0" marL="0" rtl="0" algn="l">
              <a:spcBef>
                <a:spcPts val="1200"/>
              </a:spcBef>
              <a:spcAft>
                <a:spcPts val="0"/>
              </a:spcAft>
              <a:buNone/>
            </a:pPr>
            <a:r>
              <a:rPr lang="en">
                <a:solidFill>
                  <a:schemeClr val="dk1"/>
                </a:solidFill>
              </a:rPr>
              <a:t>Large players use neural / hybrid semantic search, but the trade-offs aren't well documented for small to mid-sized catalogs</a:t>
            </a:r>
            <a:endParaRPr>
              <a:solidFill>
                <a:schemeClr val="dk1"/>
              </a:solidFill>
            </a:endParaRPr>
          </a:p>
          <a:p>
            <a:pPr indent="0" lvl="0" marL="0" rtl="0" algn="l">
              <a:spcBef>
                <a:spcPts val="1200"/>
              </a:spcBef>
              <a:spcAft>
                <a:spcPts val="0"/>
              </a:spcAft>
              <a:buNone/>
            </a:pPr>
            <a:r>
              <a:rPr lang="en">
                <a:solidFill>
                  <a:schemeClr val="dk1"/>
                </a:solidFill>
              </a:rPr>
              <a:t>Question: When does a multimodal dual-encoder actually outperform keyword search?</a:t>
            </a:r>
            <a:endParaRPr>
              <a:solidFill>
                <a:schemeClr val="dk1"/>
              </a:solidFill>
            </a:endParaRPr>
          </a:p>
          <a:p>
            <a:pPr indent="0" lvl="0" marL="0" rtl="0" algn="l">
              <a:spcBef>
                <a:spcPts val="1200"/>
              </a:spcBef>
              <a:spcAft>
                <a:spcPts val="1200"/>
              </a:spcAft>
              <a:buNone/>
            </a:pPr>
            <a:r>
              <a:rPr lang="en">
                <a:solidFill>
                  <a:schemeClr val="dk1"/>
                </a:solidFill>
              </a:rPr>
              <a:t>We test both on the same dataset with the same metrics to find out</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&amp; Exploration</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Fashion Product Images Dataset (Kaggle)</a:t>
            </a:r>
            <a:endParaRPr>
              <a:solidFill>
                <a:schemeClr val="dk1"/>
              </a:solidFill>
            </a:endParaRPr>
          </a:p>
          <a:p>
            <a:pPr indent="0" lvl="0" marL="0" rtl="0" algn="l">
              <a:spcBef>
                <a:spcPts val="1200"/>
              </a:spcBef>
              <a:spcAft>
                <a:spcPts val="0"/>
              </a:spcAft>
              <a:buNone/>
            </a:pPr>
            <a:r>
              <a:rPr lang="en">
                <a:solidFill>
                  <a:schemeClr val="dk1"/>
                </a:solidFill>
              </a:rPr>
              <a:t>~44,400 product images + metadata (gender, color, category, season, usage)</a:t>
            </a:r>
            <a:endParaRPr>
              <a:solidFill>
                <a:schemeClr val="dk1"/>
              </a:solidFill>
            </a:endParaRPr>
          </a:p>
          <a:p>
            <a:pPr indent="0" lvl="0" marL="0" rtl="0" algn="l">
              <a:spcBef>
                <a:spcPts val="1200"/>
              </a:spcBef>
              <a:spcAft>
                <a:spcPts val="0"/>
              </a:spcAft>
              <a:buNone/>
            </a:pPr>
            <a:r>
              <a:rPr lang="en">
                <a:solidFill>
                  <a:schemeClr val="dk1"/>
                </a:solidFill>
              </a:rPr>
              <a:t>Each product: images/{id}.jpg + styles.csv + styles/{id}.json</a:t>
            </a:r>
            <a:endParaRPr>
              <a:solidFill>
                <a:schemeClr val="dk1"/>
              </a:solidFill>
            </a:endParaRPr>
          </a:p>
          <a:p>
            <a:pPr indent="0" lvl="0" marL="0" rtl="0" algn="l">
              <a:spcBef>
                <a:spcPts val="1200"/>
              </a:spcBef>
              <a:spcAft>
                <a:spcPts val="0"/>
              </a:spcAft>
              <a:buNone/>
            </a:pPr>
            <a:r>
              <a:rPr lang="en">
                <a:solidFill>
                  <a:schemeClr val="dk1"/>
                </a:solidFill>
              </a:rPr>
              <a:t>Split: 80% train, 10% val, 10% test</a:t>
            </a:r>
            <a:endParaRPr>
              <a:solidFill>
                <a:schemeClr val="dk1"/>
              </a:solidFill>
            </a:endParaRPr>
          </a:p>
          <a:p>
            <a:pPr indent="0" lvl="0" marL="0" rtl="0" algn="l">
              <a:spcBef>
                <a:spcPts val="1200"/>
              </a:spcBef>
              <a:spcAft>
                <a:spcPts val="1200"/>
              </a:spcAft>
              <a:buNone/>
            </a:pPr>
            <a:r>
              <a:rPr lang="en">
                <a:solidFill>
                  <a:schemeClr val="dk1"/>
                </a:solidFill>
              </a:rPr>
              <a:t>Built 4 caption styles per product: templated, brand, shopper, short</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Dual-encoder architecture (Tensorflow/Keras)</a:t>
            </a:r>
            <a:endParaRPr>
              <a:solidFill>
                <a:schemeClr val="dk1"/>
              </a:solidFill>
            </a:endParaRPr>
          </a:p>
          <a:p>
            <a:pPr indent="-311150" lvl="0" marL="457200" rtl="0" algn="l">
              <a:spcBef>
                <a:spcPts val="1200"/>
              </a:spcBef>
              <a:spcAft>
                <a:spcPts val="0"/>
              </a:spcAft>
              <a:buClr>
                <a:schemeClr val="dk1"/>
              </a:buClr>
              <a:buSzPts val="1300"/>
              <a:buChar char="-"/>
            </a:pPr>
            <a:r>
              <a:rPr lang="en">
                <a:solidFill>
                  <a:schemeClr val="dk1"/>
                </a:solidFill>
              </a:rPr>
              <a:t>Image encoder: EfficientNetB0 (ImageNet pretrained) → 384-dim</a:t>
            </a:r>
            <a:endParaRPr>
              <a:solidFill>
                <a:schemeClr val="dk1"/>
              </a:solidFill>
            </a:endParaRPr>
          </a:p>
          <a:p>
            <a:pPr indent="-311150" lvl="0" marL="457200" rtl="0" algn="l">
              <a:spcBef>
                <a:spcPts val="0"/>
              </a:spcBef>
              <a:spcAft>
                <a:spcPts val="0"/>
              </a:spcAft>
              <a:buClr>
                <a:schemeClr val="dk1"/>
              </a:buClr>
              <a:buSzPts val="1300"/>
              <a:buChar char="-"/>
            </a:pPr>
            <a:r>
              <a:rPr lang="en">
                <a:solidFill>
                  <a:schemeClr val="dk1"/>
                </a:solidFill>
              </a:rPr>
              <a:t>Text encoder: sentence-transformers all-MiniLM-L6-v2 (frozen, pretrained)</a:t>
            </a:r>
            <a:endParaRPr>
              <a:solidFill>
                <a:schemeClr val="dk1"/>
              </a:solidFill>
            </a:endParaRPr>
          </a:p>
          <a:p>
            <a:pPr indent="0" lvl="0" marL="0" rtl="0" algn="l">
              <a:spcBef>
                <a:spcPts val="1200"/>
              </a:spcBef>
              <a:spcAft>
                <a:spcPts val="0"/>
              </a:spcAft>
              <a:buNone/>
            </a:pPr>
            <a:r>
              <a:rPr lang="en">
                <a:solidFill>
                  <a:schemeClr val="dk1"/>
                </a:solidFill>
              </a:rPr>
              <a:t>Trained with contrastive </a:t>
            </a:r>
            <a:r>
              <a:rPr lang="en">
                <a:solidFill>
                  <a:schemeClr val="dk1"/>
                </a:solidFill>
              </a:rPr>
              <a:t>learning</a:t>
            </a:r>
            <a:endParaRPr>
              <a:solidFill>
                <a:schemeClr val="dk1"/>
              </a:solidFill>
            </a:endParaRPr>
          </a:p>
          <a:p>
            <a:pPr indent="0" lvl="0" marL="0" rtl="0" algn="l">
              <a:spcBef>
                <a:spcPts val="1200"/>
              </a:spcBef>
              <a:spcAft>
                <a:spcPts val="0"/>
              </a:spcAft>
              <a:buNone/>
            </a:pPr>
            <a:r>
              <a:rPr lang="en">
                <a:solidFill>
                  <a:schemeClr val="dk1"/>
                </a:solidFill>
              </a:rPr>
              <a:t>Baseline: TF-IDF keyword search on same product text</a:t>
            </a:r>
            <a:endParaRPr>
              <a:solidFill>
                <a:schemeClr val="dk1"/>
              </a:solidFill>
            </a:endParaRPr>
          </a:p>
          <a:p>
            <a:pPr indent="0" lvl="0" marL="0" rtl="0" algn="l">
              <a:spcBef>
                <a:spcPts val="1200"/>
              </a:spcBef>
              <a:spcAft>
                <a:spcPts val="1200"/>
              </a:spcAft>
              <a:buNone/>
            </a:pPr>
            <a:r>
              <a:rPr lang="en">
                <a:solidFill>
                  <a:schemeClr val="dk1"/>
                </a:solidFill>
              </a:rPr>
              <a:t>At inference: cosine similarity between query embedding and gallery</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Setup</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dk1"/>
                </a:solidFill>
              </a:rPr>
              <a:t>Metrics: Top-1 Accuracy, Top-5 Accuracy, MRR, Precision@5</a:t>
            </a:r>
            <a:endParaRPr>
              <a:solidFill>
                <a:schemeClr val="dk1"/>
              </a:solidFill>
            </a:endParaRPr>
          </a:p>
          <a:p>
            <a:pPr indent="0" lvl="0" marL="0" rtl="0" algn="l">
              <a:spcBef>
                <a:spcPts val="1200"/>
              </a:spcBef>
              <a:spcAft>
                <a:spcPts val="0"/>
              </a:spcAft>
              <a:buNone/>
            </a:pPr>
            <a:r>
              <a:rPr lang="en">
                <a:solidFill>
                  <a:schemeClr val="dk1"/>
                </a:solidFill>
              </a:rPr>
              <a:t>Gallery: 4,427 test products</a:t>
            </a:r>
            <a:endParaRPr>
              <a:solidFill>
                <a:schemeClr val="dk1"/>
              </a:solidFill>
            </a:endParaRPr>
          </a:p>
          <a:p>
            <a:pPr indent="0" lvl="0" marL="0" rtl="0" algn="l">
              <a:spcBef>
                <a:spcPts val="1200"/>
              </a:spcBef>
              <a:spcAft>
                <a:spcPts val="0"/>
              </a:spcAft>
              <a:buNone/>
            </a:pPr>
            <a:r>
              <a:rPr lang="en">
                <a:solidFill>
                  <a:schemeClr val="dk1"/>
                </a:solidFill>
              </a:rPr>
              <a:t>Tested across 4 query styles to measure robustness:</a:t>
            </a:r>
            <a:endParaRPr>
              <a:solidFill>
                <a:schemeClr val="dk1"/>
              </a:solidFill>
            </a:endParaRPr>
          </a:p>
          <a:p>
            <a:pPr indent="-304959" lvl="0" marL="457200" rtl="0" algn="l">
              <a:spcBef>
                <a:spcPts val="1200"/>
              </a:spcBef>
              <a:spcAft>
                <a:spcPts val="0"/>
              </a:spcAft>
              <a:buClr>
                <a:schemeClr val="dk1"/>
              </a:buClr>
              <a:buSzPct val="100000"/>
              <a:buChar char="-"/>
            </a:pPr>
            <a:r>
              <a:rPr lang="en">
                <a:solidFill>
                  <a:schemeClr val="dk1"/>
                </a:solidFill>
              </a:rPr>
              <a:t>Templated: “A men black watches, for formal wear..."</a:t>
            </a:r>
            <a:endParaRPr>
              <a:solidFill>
                <a:schemeClr val="dk1"/>
              </a:solidFill>
            </a:endParaRPr>
          </a:p>
          <a:p>
            <a:pPr indent="-304959" lvl="0" marL="457200" rtl="0" algn="l">
              <a:spcBef>
                <a:spcPts val="0"/>
              </a:spcBef>
              <a:spcAft>
                <a:spcPts val="0"/>
              </a:spcAft>
              <a:buClr>
                <a:schemeClr val="dk1"/>
              </a:buClr>
              <a:buSzPct val="100000"/>
              <a:buChar char="-"/>
            </a:pPr>
            <a:r>
              <a:rPr lang="en">
                <a:solidFill>
                  <a:schemeClr val="dk1"/>
                </a:solidFill>
              </a:rPr>
              <a:t>Brand: “Titan Men Black Watch"</a:t>
            </a:r>
            <a:endParaRPr>
              <a:solidFill>
                <a:schemeClr val="dk1"/>
              </a:solidFill>
            </a:endParaRPr>
          </a:p>
          <a:p>
            <a:pPr indent="-304959" lvl="0" marL="457200" rtl="0" algn="l">
              <a:spcBef>
                <a:spcPts val="0"/>
              </a:spcBef>
              <a:spcAft>
                <a:spcPts val="0"/>
              </a:spcAft>
              <a:buClr>
                <a:schemeClr val="dk1"/>
              </a:buClr>
              <a:buSzPct val="100000"/>
              <a:buChar char="-"/>
            </a:pPr>
            <a:r>
              <a:rPr lang="en">
                <a:solidFill>
                  <a:schemeClr val="dk1"/>
                </a:solidFill>
              </a:rPr>
              <a:t>Shopper: "men's black formal watch"</a:t>
            </a:r>
            <a:endParaRPr>
              <a:solidFill>
                <a:schemeClr val="dk1"/>
              </a:solidFill>
            </a:endParaRPr>
          </a:p>
          <a:p>
            <a:pPr indent="-304959" lvl="0" marL="457200" rtl="0" algn="l">
              <a:spcBef>
                <a:spcPts val="0"/>
              </a:spcBef>
              <a:spcAft>
                <a:spcPts val="0"/>
              </a:spcAft>
              <a:buClr>
                <a:schemeClr val="dk1"/>
              </a:buClr>
              <a:buSzPct val="100000"/>
              <a:buChar char="-"/>
            </a:pPr>
            <a:r>
              <a:rPr lang="en">
                <a:solidFill>
                  <a:schemeClr val="dk1"/>
                </a:solidFill>
              </a:rPr>
              <a:t>Short: "black watch"</a:t>
            </a:r>
            <a:endParaRPr>
              <a:solidFill>
                <a:schemeClr val="dk1"/>
              </a:solidFill>
            </a:endParaRPr>
          </a:p>
          <a:p>
            <a:pPr indent="0" lvl="0" marL="0" rtl="0" algn="l">
              <a:spcBef>
                <a:spcPts val="1200"/>
              </a:spcBef>
              <a:spcAft>
                <a:spcPts val="1200"/>
              </a:spcAft>
              <a:buNone/>
            </a:pPr>
            <a:r>
              <a:rPr lang="en">
                <a:solidFill>
                  <a:schemeClr val="dk1"/>
                </a:solidFill>
              </a:rPr>
              <a:t>Apples-to-apples: same metrics, same test set for both models</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7650" y="1278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graphicFrame>
        <p:nvGraphicFramePr>
          <p:cNvPr id="117" name="Google Shape;117;p18"/>
          <p:cNvGraphicFramePr/>
          <p:nvPr/>
        </p:nvGraphicFramePr>
        <p:xfrm>
          <a:off x="916250" y="1813250"/>
          <a:ext cx="3000000" cy="3000000"/>
        </p:xfrm>
        <a:graphic>
          <a:graphicData uri="http://schemas.openxmlformats.org/drawingml/2006/table">
            <a:tbl>
              <a:tblPr>
                <a:noFill/>
                <a:tableStyleId>{B05E6094-8373-459B-91EE-32D6F5FF000E}</a:tableStyleId>
              </a:tblPr>
              <a:tblGrid>
                <a:gridCol w="1447800"/>
                <a:gridCol w="1447800"/>
                <a:gridCol w="1447800"/>
                <a:gridCol w="1447800"/>
                <a:gridCol w="1447800"/>
              </a:tblGrid>
              <a:tr h="475800">
                <a:tc>
                  <a:txBody>
                    <a:bodyPr/>
                    <a:lstStyle/>
                    <a:p>
                      <a:pPr indent="0" lvl="0" marL="0" rtl="0" algn="l">
                        <a:spcBef>
                          <a:spcPts val="0"/>
                        </a:spcBef>
                        <a:spcAft>
                          <a:spcPts val="0"/>
                        </a:spcAft>
                        <a:buNone/>
                      </a:pPr>
                      <a:r>
                        <a:rPr lang="en"/>
                        <a:t>Model</a:t>
                      </a:r>
                      <a:endParaRPr/>
                    </a:p>
                  </a:txBody>
                  <a:tcPr marT="91425" marB="91425" marR="91425" marL="91425"/>
                </a:tc>
                <a:tc>
                  <a:txBody>
                    <a:bodyPr/>
                    <a:lstStyle/>
                    <a:p>
                      <a:pPr indent="0" lvl="0" marL="0" rtl="0" algn="l">
                        <a:spcBef>
                          <a:spcPts val="0"/>
                        </a:spcBef>
                        <a:spcAft>
                          <a:spcPts val="0"/>
                        </a:spcAft>
                        <a:buNone/>
                      </a:pPr>
                      <a:r>
                        <a:rPr lang="en"/>
                        <a:t>Query Style</a:t>
                      </a:r>
                      <a:endParaRPr/>
                    </a:p>
                  </a:txBody>
                  <a:tcPr marT="91425" marB="91425" marR="91425" marL="91425"/>
                </a:tc>
                <a:tc>
                  <a:txBody>
                    <a:bodyPr/>
                    <a:lstStyle/>
                    <a:p>
                      <a:pPr indent="0" lvl="0" marL="0" rtl="0" algn="l">
                        <a:spcBef>
                          <a:spcPts val="0"/>
                        </a:spcBef>
                        <a:spcAft>
                          <a:spcPts val="0"/>
                        </a:spcAft>
                        <a:buNone/>
                      </a:pPr>
                      <a:r>
                        <a:rPr lang="en"/>
                        <a:t>Top-1</a:t>
                      </a:r>
                      <a:endParaRPr/>
                    </a:p>
                  </a:txBody>
                  <a:tcPr marT="91425" marB="91425" marR="91425" marL="91425"/>
                </a:tc>
                <a:tc>
                  <a:txBody>
                    <a:bodyPr/>
                    <a:lstStyle/>
                    <a:p>
                      <a:pPr indent="0" lvl="0" marL="0" rtl="0" algn="l">
                        <a:spcBef>
                          <a:spcPts val="0"/>
                        </a:spcBef>
                        <a:spcAft>
                          <a:spcPts val="0"/>
                        </a:spcAft>
                        <a:buNone/>
                      </a:pPr>
                      <a:r>
                        <a:rPr lang="en"/>
                        <a:t>Top-5</a:t>
                      </a:r>
                      <a:endParaRPr/>
                    </a:p>
                  </a:txBody>
                  <a:tcPr marT="91425" marB="91425" marR="91425" marL="91425"/>
                </a:tc>
                <a:tc>
                  <a:txBody>
                    <a:bodyPr/>
                    <a:lstStyle/>
                    <a:p>
                      <a:pPr indent="0" lvl="0" marL="0" rtl="0" algn="l">
                        <a:spcBef>
                          <a:spcPts val="0"/>
                        </a:spcBef>
                        <a:spcAft>
                          <a:spcPts val="0"/>
                        </a:spcAft>
                        <a:buNone/>
                      </a:pPr>
                      <a:r>
                        <a:rPr lang="en"/>
                        <a:t>MRR</a:t>
                      </a:r>
                      <a:endParaRPr/>
                    </a:p>
                  </a:txBody>
                  <a:tcPr marT="91425" marB="91425" marR="91425" marL="91425"/>
                </a:tc>
              </a:tr>
              <a:tr h="475800">
                <a:tc>
                  <a:txBody>
                    <a:bodyPr/>
                    <a:lstStyle/>
                    <a:p>
                      <a:pPr indent="0" lvl="0" marL="0" rtl="0" algn="l">
                        <a:spcBef>
                          <a:spcPts val="0"/>
                        </a:spcBef>
                        <a:spcAft>
                          <a:spcPts val="0"/>
                        </a:spcAft>
                        <a:buNone/>
                      </a:pPr>
                      <a:r>
                        <a:rPr lang="en"/>
                        <a:t>TF-IDF</a:t>
                      </a:r>
                      <a:endParaRPr/>
                    </a:p>
                  </a:txBody>
                  <a:tcPr marT="91425" marB="91425" marR="91425" marL="91425"/>
                </a:tc>
                <a:tc>
                  <a:txBody>
                    <a:bodyPr/>
                    <a:lstStyle/>
                    <a:p>
                      <a:pPr indent="0" lvl="0" marL="0" rtl="0" algn="l">
                        <a:spcBef>
                          <a:spcPts val="0"/>
                        </a:spcBef>
                        <a:spcAft>
                          <a:spcPts val="0"/>
                        </a:spcAft>
                        <a:buNone/>
                      </a:pPr>
                      <a:r>
                        <a:rPr lang="en"/>
                        <a:t>templated</a:t>
                      </a:r>
                      <a:endParaRPr/>
                    </a:p>
                  </a:txBody>
                  <a:tcPr marT="91425" marB="91425" marR="91425" marL="91425"/>
                </a:tc>
                <a:tc>
                  <a:txBody>
                    <a:bodyPr/>
                    <a:lstStyle/>
                    <a:p>
                      <a:pPr indent="0" lvl="0" marL="0" rtl="0" algn="l">
                        <a:spcBef>
                          <a:spcPts val="0"/>
                        </a:spcBef>
                        <a:spcAft>
                          <a:spcPts val="0"/>
                        </a:spcAft>
                        <a:buNone/>
                      </a:pPr>
                      <a:r>
                        <a:rPr lang="en"/>
                        <a:t>0.52</a:t>
                      </a:r>
                      <a:endParaRPr/>
                    </a:p>
                  </a:txBody>
                  <a:tcPr marT="91425" marB="91425" marR="91425" marL="91425"/>
                </a:tc>
                <a:tc>
                  <a:txBody>
                    <a:bodyPr/>
                    <a:lstStyle/>
                    <a:p>
                      <a:pPr indent="0" lvl="0" marL="0" rtl="0" algn="l">
                        <a:spcBef>
                          <a:spcPts val="0"/>
                        </a:spcBef>
                        <a:spcAft>
                          <a:spcPts val="0"/>
                        </a:spcAft>
                        <a:buNone/>
                      </a:pPr>
                      <a:r>
                        <a:rPr lang="en"/>
                        <a:t>0.81</a:t>
                      </a:r>
                      <a:endParaRPr/>
                    </a:p>
                  </a:txBody>
                  <a:tcPr marT="91425" marB="91425" marR="91425" marL="91425"/>
                </a:tc>
                <a:tc>
                  <a:txBody>
                    <a:bodyPr/>
                    <a:lstStyle/>
                    <a:p>
                      <a:pPr indent="0" lvl="0" marL="0" rtl="0" algn="l">
                        <a:spcBef>
                          <a:spcPts val="0"/>
                        </a:spcBef>
                        <a:spcAft>
                          <a:spcPts val="0"/>
                        </a:spcAft>
                        <a:buNone/>
                      </a:pPr>
                      <a:r>
                        <a:rPr lang="en"/>
                        <a:t>0.65</a:t>
                      </a:r>
                      <a:endParaRPr/>
                    </a:p>
                  </a:txBody>
                  <a:tcPr marT="91425" marB="91425" marR="91425" marL="91425"/>
                </a:tc>
              </a:tr>
              <a:tr h="475800">
                <a:tc>
                  <a:txBody>
                    <a:bodyPr/>
                    <a:lstStyle/>
                    <a:p>
                      <a:pPr indent="0" lvl="0" marL="0" rtl="0" algn="l">
                        <a:spcBef>
                          <a:spcPts val="0"/>
                        </a:spcBef>
                        <a:spcAft>
                          <a:spcPts val="0"/>
                        </a:spcAft>
                        <a:buClr>
                          <a:schemeClr val="dk1"/>
                        </a:buClr>
                        <a:buSzPts val="1100"/>
                        <a:buFont typeface="Arial"/>
                        <a:buNone/>
                      </a:pPr>
                      <a:r>
                        <a:rPr lang="en">
                          <a:solidFill>
                            <a:schemeClr val="dk1"/>
                          </a:solidFill>
                        </a:rPr>
                        <a:t>TF-IDF</a:t>
                      </a:r>
                      <a:endParaRPr/>
                    </a:p>
                  </a:txBody>
                  <a:tcPr marT="91425" marB="91425" marR="91425" marL="91425"/>
                </a:tc>
                <a:tc>
                  <a:txBody>
                    <a:bodyPr/>
                    <a:lstStyle/>
                    <a:p>
                      <a:pPr indent="0" lvl="0" marL="0" rtl="0" algn="l">
                        <a:spcBef>
                          <a:spcPts val="0"/>
                        </a:spcBef>
                        <a:spcAft>
                          <a:spcPts val="0"/>
                        </a:spcAft>
                        <a:buNone/>
                      </a:pPr>
                      <a:r>
                        <a:rPr lang="en"/>
                        <a:t>shopper</a:t>
                      </a:r>
                      <a:endParaRPr/>
                    </a:p>
                  </a:txBody>
                  <a:tcPr marT="91425" marB="91425" marR="91425" marL="91425"/>
                </a:tc>
                <a:tc>
                  <a:txBody>
                    <a:bodyPr/>
                    <a:lstStyle/>
                    <a:p>
                      <a:pPr indent="0" lvl="0" marL="0" rtl="0" algn="l">
                        <a:spcBef>
                          <a:spcPts val="0"/>
                        </a:spcBef>
                        <a:spcAft>
                          <a:spcPts val="0"/>
                        </a:spcAft>
                        <a:buNone/>
                      </a:pPr>
                      <a:r>
                        <a:rPr lang="en"/>
                        <a:t>0.08</a:t>
                      </a:r>
                      <a:endParaRPr/>
                    </a:p>
                  </a:txBody>
                  <a:tcPr marT="91425" marB="91425" marR="91425" marL="91425"/>
                </a:tc>
                <a:tc>
                  <a:txBody>
                    <a:bodyPr/>
                    <a:lstStyle/>
                    <a:p>
                      <a:pPr indent="0" lvl="0" marL="0" rtl="0" algn="l">
                        <a:spcBef>
                          <a:spcPts val="0"/>
                        </a:spcBef>
                        <a:spcAft>
                          <a:spcPts val="0"/>
                        </a:spcAft>
                        <a:buNone/>
                      </a:pPr>
                      <a:r>
                        <a:rPr lang="en"/>
                        <a:t>0.22</a:t>
                      </a:r>
                      <a:endParaRPr/>
                    </a:p>
                  </a:txBody>
                  <a:tcPr marT="91425" marB="91425" marR="91425" marL="91425"/>
                </a:tc>
                <a:tc>
                  <a:txBody>
                    <a:bodyPr/>
                    <a:lstStyle/>
                    <a:p>
                      <a:pPr indent="0" lvl="0" marL="0" rtl="0" algn="l">
                        <a:spcBef>
                          <a:spcPts val="0"/>
                        </a:spcBef>
                        <a:spcAft>
                          <a:spcPts val="0"/>
                        </a:spcAft>
                        <a:buNone/>
                      </a:pPr>
                      <a:r>
                        <a:rPr lang="en"/>
                        <a:t>0.16</a:t>
                      </a:r>
                      <a:endParaRPr/>
                    </a:p>
                  </a:txBody>
                  <a:tcPr marT="91425" marB="91425" marR="91425" marL="91425"/>
                </a:tc>
              </a:tr>
              <a:tr h="475800">
                <a:tc>
                  <a:txBody>
                    <a:bodyPr/>
                    <a:lstStyle/>
                    <a:p>
                      <a:pPr indent="0" lvl="0" marL="0" rtl="0" algn="l">
                        <a:spcBef>
                          <a:spcPts val="0"/>
                        </a:spcBef>
                        <a:spcAft>
                          <a:spcPts val="0"/>
                        </a:spcAft>
                        <a:buNone/>
                      </a:pPr>
                      <a:r>
                        <a:rPr lang="en"/>
                        <a:t>Dual-encoder</a:t>
                      </a:r>
                      <a:endParaRPr/>
                    </a:p>
                  </a:txBody>
                  <a:tcPr marT="91425" marB="91425" marR="91425" marL="91425"/>
                </a:tc>
                <a:tc>
                  <a:txBody>
                    <a:bodyPr/>
                    <a:lstStyle/>
                    <a:p>
                      <a:pPr indent="0" lvl="0" marL="0" rtl="0" algn="l">
                        <a:spcBef>
                          <a:spcPts val="0"/>
                        </a:spcBef>
                        <a:spcAft>
                          <a:spcPts val="0"/>
                        </a:spcAft>
                        <a:buNone/>
                      </a:pPr>
                      <a:r>
                        <a:rPr lang="en"/>
                        <a:t>templated</a:t>
                      </a:r>
                      <a:endParaRPr/>
                    </a:p>
                  </a:txBody>
                  <a:tcPr marT="91425" marB="91425" marR="91425" marL="91425"/>
                </a:tc>
                <a:tc>
                  <a:txBody>
                    <a:bodyPr/>
                    <a:lstStyle/>
                    <a:p>
                      <a:pPr indent="0" lvl="0" marL="0" rtl="0" algn="l">
                        <a:spcBef>
                          <a:spcPts val="0"/>
                        </a:spcBef>
                        <a:spcAft>
                          <a:spcPts val="0"/>
                        </a:spcAft>
                        <a:buNone/>
                      </a:pPr>
                      <a:r>
                        <a:rPr lang="en"/>
                        <a:t>0.17</a:t>
                      </a:r>
                      <a:endParaRPr/>
                    </a:p>
                  </a:txBody>
                  <a:tcPr marT="91425" marB="91425" marR="91425" marL="91425"/>
                </a:tc>
                <a:tc>
                  <a:txBody>
                    <a:bodyPr/>
                    <a:lstStyle/>
                    <a:p>
                      <a:pPr indent="0" lvl="0" marL="0" rtl="0" algn="l">
                        <a:spcBef>
                          <a:spcPts val="0"/>
                        </a:spcBef>
                        <a:spcAft>
                          <a:spcPts val="0"/>
                        </a:spcAft>
                        <a:buNone/>
                      </a:pPr>
                      <a:r>
                        <a:rPr lang="en"/>
                        <a:t>0.46</a:t>
                      </a:r>
                      <a:endParaRPr/>
                    </a:p>
                  </a:txBody>
                  <a:tcPr marT="91425" marB="91425" marR="91425" marL="91425"/>
                </a:tc>
                <a:tc>
                  <a:txBody>
                    <a:bodyPr/>
                    <a:lstStyle/>
                    <a:p>
                      <a:pPr indent="0" lvl="0" marL="0" rtl="0" algn="l">
                        <a:spcBef>
                          <a:spcPts val="0"/>
                        </a:spcBef>
                        <a:spcAft>
                          <a:spcPts val="0"/>
                        </a:spcAft>
                        <a:buNone/>
                      </a:pPr>
                      <a:r>
                        <a:rPr lang="en"/>
                        <a:t>0.31</a:t>
                      </a:r>
                      <a:endParaRPr/>
                    </a:p>
                  </a:txBody>
                  <a:tcPr marT="91425" marB="91425" marR="91425" marL="91425"/>
                </a:tc>
              </a:tr>
              <a:tr h="475800">
                <a:tc>
                  <a:txBody>
                    <a:bodyPr/>
                    <a:lstStyle/>
                    <a:p>
                      <a:pPr indent="0" lvl="0" marL="0" rtl="0" algn="l">
                        <a:spcBef>
                          <a:spcPts val="0"/>
                        </a:spcBef>
                        <a:spcAft>
                          <a:spcPts val="0"/>
                        </a:spcAft>
                        <a:buClr>
                          <a:schemeClr val="dk1"/>
                        </a:buClr>
                        <a:buSzPts val="1100"/>
                        <a:buFont typeface="Arial"/>
                        <a:buNone/>
                      </a:pPr>
                      <a:r>
                        <a:rPr lang="en">
                          <a:solidFill>
                            <a:schemeClr val="dk1"/>
                          </a:solidFill>
                        </a:rPr>
                        <a:t>Dual-encoder</a:t>
                      </a:r>
                      <a:endParaRPr/>
                    </a:p>
                  </a:txBody>
                  <a:tcPr marT="91425" marB="91425" marR="91425" marL="91425"/>
                </a:tc>
                <a:tc>
                  <a:txBody>
                    <a:bodyPr/>
                    <a:lstStyle/>
                    <a:p>
                      <a:pPr indent="0" lvl="0" marL="0" rtl="0" algn="l">
                        <a:spcBef>
                          <a:spcPts val="0"/>
                        </a:spcBef>
                        <a:spcAft>
                          <a:spcPts val="0"/>
                        </a:spcAft>
                        <a:buNone/>
                      </a:pPr>
                      <a:r>
                        <a:rPr lang="en"/>
                        <a:t>shopper</a:t>
                      </a:r>
                      <a:endParaRPr/>
                    </a:p>
                  </a:txBody>
                  <a:tcPr marT="91425" marB="91425" marR="91425" marL="91425"/>
                </a:tc>
                <a:tc>
                  <a:txBody>
                    <a:bodyPr/>
                    <a:lstStyle/>
                    <a:p>
                      <a:pPr indent="0" lvl="0" marL="0" rtl="0" algn="l">
                        <a:spcBef>
                          <a:spcPts val="0"/>
                        </a:spcBef>
                        <a:spcAft>
                          <a:spcPts val="0"/>
                        </a:spcAft>
                        <a:buNone/>
                      </a:pPr>
                      <a:r>
                        <a:rPr lang="en"/>
                        <a:t>0.07</a:t>
                      </a:r>
                      <a:endParaRPr/>
                    </a:p>
                  </a:txBody>
                  <a:tcPr marT="91425" marB="91425" marR="91425" marL="91425"/>
                </a:tc>
                <a:tc>
                  <a:txBody>
                    <a:bodyPr/>
                    <a:lstStyle/>
                    <a:p>
                      <a:pPr indent="0" lvl="0" marL="0" rtl="0" algn="l">
                        <a:spcBef>
                          <a:spcPts val="0"/>
                        </a:spcBef>
                        <a:spcAft>
                          <a:spcPts val="0"/>
                        </a:spcAft>
                        <a:buNone/>
                      </a:pPr>
                      <a:r>
                        <a:rPr lang="en"/>
                        <a:t>0.24</a:t>
                      </a:r>
                      <a:endParaRPr/>
                    </a:p>
                  </a:txBody>
                  <a:tcPr marT="91425" marB="91425" marR="91425" marL="91425"/>
                </a:tc>
                <a:tc>
                  <a:txBody>
                    <a:bodyPr/>
                    <a:lstStyle/>
                    <a:p>
                      <a:pPr indent="0" lvl="0" marL="0" rtl="0" algn="l">
                        <a:spcBef>
                          <a:spcPts val="0"/>
                        </a:spcBef>
                        <a:spcAft>
                          <a:spcPts val="0"/>
                        </a:spcAft>
                        <a:buNone/>
                      </a:pPr>
                      <a:r>
                        <a:rPr lang="en"/>
                        <a:t>0.17</a:t>
                      </a:r>
                      <a:endParaRPr/>
                    </a:p>
                  </a:txBody>
                  <a:tcPr marT="91425" marB="91425" marR="91425" marL="91425"/>
                </a:tc>
              </a:tr>
            </a:tbl>
          </a:graphicData>
        </a:graphic>
      </p:graphicFrame>
      <p:sp>
        <p:nvSpPr>
          <p:cNvPr id="118" name="Google Shape;118;p18"/>
          <p:cNvSpPr txBox="1"/>
          <p:nvPr>
            <p:ph idx="1" type="body"/>
          </p:nvPr>
        </p:nvSpPr>
        <p:spPr>
          <a:xfrm>
            <a:off x="275450" y="4192250"/>
            <a:ext cx="8520600" cy="1052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rPr>
              <a:t>TF-IDF dominates when query shares vocabulary with catalog</a:t>
            </a:r>
            <a:endParaRPr>
              <a:solidFill>
                <a:schemeClr val="dk1"/>
              </a:solidFill>
            </a:endParaRPr>
          </a:p>
          <a:p>
            <a:pPr indent="0" lvl="0" marL="0" rtl="0" algn="ctr">
              <a:spcBef>
                <a:spcPts val="1200"/>
              </a:spcBef>
              <a:spcAft>
                <a:spcPts val="1200"/>
              </a:spcAft>
              <a:buNone/>
            </a:pPr>
            <a:r>
              <a:rPr lang="en">
                <a:solidFill>
                  <a:schemeClr val="dk1"/>
                </a:solidFill>
              </a:rPr>
              <a:t>Dual-encoder is competitive on shopper-style natural language</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Interpretation &amp; Iteration</a:t>
            </a:r>
            <a:endParaRPr/>
          </a:p>
        </p:txBody>
      </p:sp>
      <p:sp>
        <p:nvSpPr>
          <p:cNvPr id="124" name="Google Shape;124;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Built 5 model versions (v1 → v5):</a:t>
            </a:r>
            <a:endParaRPr>
              <a:solidFill>
                <a:schemeClr val="dk1"/>
              </a:solidFill>
            </a:endParaRPr>
          </a:p>
          <a:p>
            <a:pPr indent="-311150" lvl="0" marL="457200" rtl="0" algn="l">
              <a:spcBef>
                <a:spcPts val="1200"/>
              </a:spcBef>
              <a:spcAft>
                <a:spcPts val="0"/>
              </a:spcAft>
              <a:buClr>
                <a:schemeClr val="dk1"/>
              </a:buClr>
              <a:buSzPts val="1300"/>
              <a:buChar char="-"/>
            </a:pPr>
            <a:r>
              <a:rPr lang="en">
                <a:solidFill>
                  <a:schemeClr val="dk1"/>
                </a:solidFill>
              </a:rPr>
              <a:t>v1:  from scratch text encoder → hit a vocabulary ceiling</a:t>
            </a:r>
            <a:endParaRPr>
              <a:solidFill>
                <a:schemeClr val="dk1"/>
              </a:solidFill>
            </a:endParaRPr>
          </a:p>
          <a:p>
            <a:pPr indent="-311150" lvl="0" marL="457200" rtl="0" algn="l">
              <a:spcBef>
                <a:spcPts val="0"/>
              </a:spcBef>
              <a:spcAft>
                <a:spcPts val="0"/>
              </a:spcAft>
              <a:buClr>
                <a:schemeClr val="dk1"/>
              </a:buClr>
              <a:buSzPts val="1300"/>
              <a:buChar char="-"/>
            </a:pPr>
            <a:r>
              <a:rPr lang="en">
                <a:solidFill>
                  <a:schemeClr val="dk1"/>
                </a:solidFill>
              </a:rPr>
              <a:t>v2-v3: caption augmentation → false negatives hurt performance</a:t>
            </a:r>
            <a:endParaRPr>
              <a:solidFill>
                <a:schemeClr val="dk1"/>
              </a:solidFill>
            </a:endParaRPr>
          </a:p>
          <a:p>
            <a:pPr indent="-311150" lvl="0" marL="457200" rtl="0" algn="l">
              <a:spcBef>
                <a:spcPts val="0"/>
              </a:spcBef>
              <a:spcAft>
                <a:spcPts val="0"/>
              </a:spcAft>
              <a:buClr>
                <a:schemeClr val="dk1"/>
              </a:buClr>
              <a:buSzPts val="1300"/>
              <a:buChar char="-"/>
            </a:pPr>
            <a:r>
              <a:rPr lang="en">
                <a:solidFill>
                  <a:schemeClr val="dk1"/>
                </a:solidFill>
              </a:rPr>
              <a:t>v4: </a:t>
            </a:r>
            <a:r>
              <a:rPr lang="en">
                <a:solidFill>
                  <a:schemeClr val="dk1"/>
                </a:solidFill>
              </a:rPr>
              <a:t>pre trained</a:t>
            </a:r>
            <a:r>
              <a:rPr lang="en">
                <a:solidFill>
                  <a:schemeClr val="dk1"/>
                </a:solidFill>
              </a:rPr>
              <a:t> MiniLM → biggest single jump</a:t>
            </a:r>
            <a:endParaRPr>
              <a:solidFill>
                <a:schemeClr val="dk1"/>
              </a:solidFill>
            </a:endParaRPr>
          </a:p>
          <a:p>
            <a:pPr indent="-311150" lvl="0" marL="457200" rtl="0" algn="l">
              <a:spcBef>
                <a:spcPts val="0"/>
              </a:spcBef>
              <a:spcAft>
                <a:spcPts val="0"/>
              </a:spcAft>
              <a:buClr>
                <a:schemeClr val="dk1"/>
              </a:buClr>
              <a:buSzPts val="1300"/>
              <a:buChar char="-"/>
            </a:pPr>
            <a:r>
              <a:rPr lang="en">
                <a:solidFill>
                  <a:schemeClr val="dk1"/>
                </a:solidFill>
              </a:rPr>
              <a:t>v5: + caption rotation → better balance, worse peak</a:t>
            </a:r>
            <a:endParaRPr>
              <a:solidFill>
                <a:schemeClr val="dk1"/>
              </a:solidFill>
            </a:endParaRPr>
          </a:p>
          <a:p>
            <a:pPr indent="0" lvl="0" marL="0" rtl="0" algn="l">
              <a:spcBef>
                <a:spcPts val="1200"/>
              </a:spcBef>
              <a:spcAft>
                <a:spcPts val="1200"/>
              </a:spcAft>
              <a:buNone/>
            </a:pPr>
            <a:r>
              <a:rPr lang="en">
                <a:solidFill>
                  <a:schemeClr val="dk1"/>
                </a:solidFill>
              </a:rPr>
              <a:t>Training a text encoder from scratch on 35k pairs can’t compete with pretraining on 1B+ sentence pairs</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0"/>
          <p:cNvPicPr preferRelativeResize="0"/>
          <p:nvPr/>
        </p:nvPicPr>
        <p:blipFill>
          <a:blip r:embed="rId3">
            <a:alphaModFix/>
          </a:blip>
          <a:stretch>
            <a:fillRect/>
          </a:stretch>
        </p:blipFill>
        <p:spPr>
          <a:xfrm>
            <a:off x="154200" y="2024775"/>
            <a:ext cx="8839204" cy="2209801"/>
          </a:xfrm>
          <a:prstGeom prst="rect">
            <a:avLst/>
          </a:prstGeom>
          <a:noFill/>
          <a:ln>
            <a:noFill/>
          </a:ln>
        </p:spPr>
      </p:pic>
      <p:sp>
        <p:nvSpPr>
          <p:cNvPr id="130" name="Google Shape;130;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v4 vs. v5 - Robustness Across Query Styles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Teamwork &amp; Challenges</a:t>
            </a:r>
            <a:endParaRPr/>
          </a:p>
        </p:txBody>
      </p:sp>
      <p:sp>
        <p:nvSpPr>
          <p:cNvPr id="136" name="Google Shape;136;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dk1"/>
                </a:solidFill>
              </a:rPr>
              <a:t>Division</a:t>
            </a:r>
            <a:r>
              <a:rPr lang="en">
                <a:solidFill>
                  <a:schemeClr val="dk1"/>
                </a:solidFill>
              </a:rPr>
              <a:t> of work:</a:t>
            </a:r>
            <a:endParaRPr>
              <a:solidFill>
                <a:schemeClr val="dk1"/>
              </a:solidFill>
            </a:endParaRPr>
          </a:p>
          <a:p>
            <a:pPr indent="-304959" lvl="0" marL="457200" rtl="0" algn="l">
              <a:spcBef>
                <a:spcPts val="1200"/>
              </a:spcBef>
              <a:spcAft>
                <a:spcPts val="0"/>
              </a:spcAft>
              <a:buClr>
                <a:schemeClr val="dk1"/>
              </a:buClr>
              <a:buSzPct val="100000"/>
              <a:buChar char="-"/>
            </a:pPr>
            <a:r>
              <a:rPr lang="en">
                <a:solidFill>
                  <a:schemeClr val="dk1"/>
                </a:solidFill>
              </a:rPr>
              <a:t>Richardson: Dual-encoder model, training pipeline, v1-v5</a:t>
            </a:r>
            <a:endParaRPr>
              <a:solidFill>
                <a:schemeClr val="dk1"/>
              </a:solidFill>
            </a:endParaRPr>
          </a:p>
          <a:p>
            <a:pPr indent="-304959" lvl="0" marL="457200" rtl="0" algn="l">
              <a:spcBef>
                <a:spcPts val="0"/>
              </a:spcBef>
              <a:spcAft>
                <a:spcPts val="0"/>
              </a:spcAft>
              <a:buClr>
                <a:schemeClr val="dk1"/>
              </a:buClr>
              <a:buSzPct val="100000"/>
              <a:buChar char="-"/>
            </a:pPr>
            <a:r>
              <a:rPr lang="en">
                <a:solidFill>
                  <a:schemeClr val="dk1"/>
                </a:solidFill>
              </a:rPr>
              <a:t>Samii: TF-IDF baseline, evaluation framework, docs</a:t>
            </a:r>
            <a:endParaRPr>
              <a:solidFill>
                <a:schemeClr val="dk1"/>
              </a:solidFill>
            </a:endParaRPr>
          </a:p>
          <a:p>
            <a:pPr indent="0" lvl="0" marL="0" rtl="0" algn="l">
              <a:spcBef>
                <a:spcPts val="1200"/>
              </a:spcBef>
              <a:spcAft>
                <a:spcPts val="0"/>
              </a:spcAft>
              <a:buNone/>
            </a:pPr>
            <a:r>
              <a:rPr lang="en">
                <a:solidFill>
                  <a:schemeClr val="dk1"/>
                </a:solidFill>
              </a:rPr>
              <a:t>Practical challenges:</a:t>
            </a:r>
            <a:endParaRPr>
              <a:solidFill>
                <a:schemeClr val="dk1"/>
              </a:solidFill>
            </a:endParaRPr>
          </a:p>
          <a:p>
            <a:pPr indent="-304959" lvl="0" marL="457200" rtl="0" algn="l">
              <a:spcBef>
                <a:spcPts val="1200"/>
              </a:spcBef>
              <a:spcAft>
                <a:spcPts val="0"/>
              </a:spcAft>
              <a:buClr>
                <a:schemeClr val="dk1"/>
              </a:buClr>
              <a:buSzPct val="100000"/>
              <a:buChar char="-"/>
            </a:pPr>
            <a:r>
              <a:rPr lang="en">
                <a:solidFill>
                  <a:schemeClr val="dk1"/>
                </a:solidFill>
              </a:rPr>
              <a:t>Overfitting at epoch 5 - fixed with early stopping + restore_best_weights</a:t>
            </a:r>
            <a:endParaRPr>
              <a:solidFill>
                <a:schemeClr val="dk1"/>
              </a:solidFill>
            </a:endParaRPr>
          </a:p>
          <a:p>
            <a:pPr indent="-304959" lvl="0" marL="457200" rtl="0" algn="l">
              <a:spcBef>
                <a:spcPts val="0"/>
              </a:spcBef>
              <a:spcAft>
                <a:spcPts val="0"/>
              </a:spcAft>
              <a:buClr>
                <a:schemeClr val="dk1"/>
              </a:buClr>
              <a:buSzPct val="100000"/>
              <a:buChar char="-"/>
            </a:pPr>
            <a:r>
              <a:rPr lang="en">
                <a:solidFill>
                  <a:schemeClr val="dk1"/>
                </a:solidFill>
              </a:rPr>
              <a:t>False-negative batches in caption expansion — fixed with rotation</a:t>
            </a:r>
            <a:endParaRPr>
              <a:solidFill>
                <a:schemeClr val="dk1"/>
              </a:solidFill>
            </a:endParaRPr>
          </a:p>
          <a:p>
            <a:pPr indent="-304959" lvl="0" marL="457200" rtl="0" algn="l">
              <a:spcBef>
                <a:spcPts val="0"/>
              </a:spcBef>
              <a:spcAft>
                <a:spcPts val="0"/>
              </a:spcAft>
              <a:buClr>
                <a:schemeClr val="dk1"/>
              </a:buClr>
              <a:buSzPct val="100000"/>
              <a:buChar char="-"/>
            </a:pPr>
            <a:r>
              <a:rPr lang="en">
                <a:solidFill>
                  <a:schemeClr val="dk1"/>
                </a:solidFill>
              </a:rPr>
              <a:t>Apple Metal GPU compatibility — used legacy Adam optimizer</a:t>
            </a:r>
            <a:endParaRPr>
              <a:solidFill>
                <a:schemeClr val="dk1"/>
              </a:solidFill>
            </a:endParaRPr>
          </a:p>
          <a:p>
            <a:pPr indent="0" lvl="0" marL="0" rtl="0" algn="l">
              <a:spcBef>
                <a:spcPts val="1200"/>
              </a:spcBef>
              <a:spcAft>
                <a:spcPts val="1200"/>
              </a:spcAft>
              <a:buNone/>
            </a:pPr>
            <a:r>
              <a:rPr lang="en">
                <a:solidFill>
                  <a:schemeClr val="dk1"/>
                </a:solidFill>
              </a:rPr>
              <a:t>Baselines matter — a strong TF-IDF baseline reframed our whole story</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42" name="Google Shape;142;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Built complete multimodal retrieval pipeline + comprehensive baseline comparison</a:t>
            </a:r>
            <a:endParaRPr>
              <a:solidFill>
                <a:schemeClr val="dk1"/>
              </a:solidFill>
            </a:endParaRPr>
          </a:p>
          <a:p>
            <a:pPr indent="0" lvl="0" marL="0" rtl="0" algn="l">
              <a:spcBef>
                <a:spcPts val="1200"/>
              </a:spcBef>
              <a:spcAft>
                <a:spcPts val="0"/>
              </a:spcAft>
              <a:buNone/>
            </a:pPr>
            <a:r>
              <a:rPr lang="en">
                <a:solidFill>
                  <a:schemeClr val="dk1"/>
                </a:solidFill>
              </a:rPr>
              <a:t>Keyword search remains very strong when the index is text-rich</a:t>
            </a:r>
            <a:endParaRPr>
              <a:solidFill>
                <a:schemeClr val="dk1"/>
              </a:solidFill>
            </a:endParaRPr>
          </a:p>
          <a:p>
            <a:pPr indent="0" lvl="0" marL="0" rtl="0" algn="l">
              <a:spcBef>
                <a:spcPts val="1200"/>
              </a:spcBef>
              <a:spcAft>
                <a:spcPts val="0"/>
              </a:spcAft>
              <a:buNone/>
            </a:pPr>
            <a:r>
              <a:rPr lang="en">
                <a:solidFill>
                  <a:schemeClr val="dk1"/>
                </a:solidFill>
              </a:rPr>
              <a:t>Dual-encoders shine on out-of-vocabulary natural-language queries</a:t>
            </a:r>
            <a:endParaRPr>
              <a:solidFill>
                <a:schemeClr val="dk1"/>
              </a:solidFill>
            </a:endParaRPr>
          </a:p>
          <a:p>
            <a:pPr indent="0" lvl="0" marL="0" rtl="0" algn="l">
              <a:spcBef>
                <a:spcPts val="1200"/>
              </a:spcBef>
              <a:spcAft>
                <a:spcPts val="1200"/>
              </a:spcAft>
              <a:buNone/>
            </a:pPr>
            <a:r>
              <a:rPr lang="en">
                <a:solidFill>
                  <a:schemeClr val="dk1"/>
                </a:solidFill>
              </a:rPr>
              <a:t>Future work: Larger contrastive batches, paraphrase augmented training</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